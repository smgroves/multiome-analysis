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9" r:id="rId30"/>
    <p:sldId id="280" r:id="rId31"/>
    <p:sldId id="281" r:id="rId32"/>
    <p:sldId id="282" r:id="rId33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  <Relationship Id="rId30" Type="http://schemas.openxmlformats.org/officeDocument/2006/relationships/slide" Target="slides/slide24.xml"/>
  <Relationship Id="rId31" Type="http://schemas.openxmlformats.org/officeDocument/2006/relationships/slide" Target="slides/slide25.xml"/>
  <Relationship Id="rId32" Type="http://schemas.openxmlformats.org/officeDocument/2006/relationships/slide" Target="slides/slide26.xml"/>
  <Relationship Id="rId33" Type="http://schemas.openxmlformats.org/officeDocument/2006/relationships/slide" Target="slides/slide27.xml"/>
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331720"/>
            <a:ext cx="10332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GRN Benchmarking &amp; Domain-Shift Diagnostics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520440"/>
            <a:ext cx="10332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CADCFC"/>
                </a:solidFill>
                <a:latin typeface="Calibri"/>
              </a:rPr>
              <a:t>boba-T vs. CellOracle, SCENIC, and GENIE3 -- network structure, predictive</a:t>
            </a:r>
          </a:p>
          <a:p>
            <a:pPr algn="l">
              <a:lnSpc>
                <a:spcPct val="120000"/>
              </a:lnSpc>
            </a:pPr>
            <a:r>
              <a:rPr sz="1700" b="0" i="0">
                <a:solidFill>
                  <a:srgbClr val="CADCFC"/>
                </a:solidFill>
                <a:latin typeface="Calibri"/>
              </a:rPr>
              <a:t>accuracy, and cross-context generalization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8932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9AA5AD"/>
                </a:solidFill>
                <a:latin typeface="Calibri"/>
              </a:rPr>
              <a:t>Summary of benchmarking &amp; domain-shift analyses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2331720"/>
            <a:ext cx="822960" cy="82296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228600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Method Benchmarking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3063240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ADCFC"/>
                </a:solidFill>
                <a:latin typeface="Calibri"/>
              </a:rPr>
              <a:t>How boba-T's structure recovery and predictive accuracy compare to CellOracle, SCENIC, and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ADCFC"/>
                </a:solidFill>
                <a:latin typeface="Calibri"/>
              </a:rPr>
              <a:t>GENIE3 -- on real ChIP-seq ground truth, a real ATAC-informed base GRN, and a literal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ADCFC"/>
                </a:solidFill>
                <a:latin typeface="Calibri"/>
              </a:rPr>
              <a:t>Boolean ground truth (HSC).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B6834"/>
                </a:solidFill>
                <a:latin typeface="Calibri"/>
              </a:rPr>
              <a:t>COMPARISON 1 -- NETWORK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212121"/>
                </a:solidFill>
                <a:latin typeface="Cambria"/>
              </a:rPr>
              <a:t>CellOracle wins recall, SCENIC wins precision -- at genome scale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7359" y="1344168"/>
            <a:ext cx="10326800" cy="4764024"/>
          </a:xfrm>
          <a:prstGeom prst="roundRect">
            <a:avLst>
              <a:gd name="adj" fmla="val 3500"/>
            </a:avLst>
          </a:prstGeom>
          <a:solidFill>
            <a:srgbClr val="FAFAF9"/>
          </a:solidFill>
          <a:ln w="9525">
            <a:solidFill>
              <a:srgbClr val="DD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1_structure_fullscale_precision_rec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951" y="1508760"/>
            <a:ext cx="9997616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26364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6B6B68"/>
                </a:solidFill>
                <a:latin typeface="Calibri"/>
              </a:rPr>
              <a:t>Genome-wide network structure recovery vs. real ChIP-seq ground truth (Borromeo human &amp; mouse RPR2, Pozo).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B6834"/>
                </a:solidFill>
                <a:latin typeface="Calibri"/>
              </a:rPr>
              <a:t>TKO_FINAL_ARC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212121"/>
                </a:solidFill>
                <a:latin typeface="Cambria"/>
              </a:rPr>
              <a:t>A real, dataset-specific ATAC-informed base GRN doesn't change the picture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7170" y="1344168"/>
            <a:ext cx="7547178" cy="4764024"/>
          </a:xfrm>
          <a:prstGeom prst="roundRect">
            <a:avLst>
              <a:gd name="adj" fmla="val 3500"/>
            </a:avLst>
          </a:prstGeom>
          <a:solidFill>
            <a:srgbClr val="FAFAF9"/>
          </a:solidFill>
          <a:ln w="9525">
            <a:solidFill>
              <a:srgbClr val="DD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2_structure_tko_realatac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762" y="1508760"/>
            <a:ext cx="7217994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26364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6B6B68"/>
                </a:solidFill>
                <a:latin typeface="Calibri"/>
              </a:rPr>
              <a:t>Same TKO cells, three methods -- swapping a real ATAC-derived base GRN in for CellOracle/SCENIC reproduces</a:t>
            </a:r>
          </a:p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6B6B68"/>
                </a:solidFill>
                <a:latin typeface="Calibri"/>
              </a:rPr>
              <a:t>the same qualitative pattern seen genome-wide.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B6834"/>
                </a:solidFill>
                <a:latin typeface="Calibri"/>
              </a:rPr>
              <a:t>SMALL, CURATED CANDIDATE NETWORK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212121"/>
                </a:solidFill>
                <a:latin typeface="Cambria"/>
              </a:rPr>
              <a:t>boba-T, CellOracle, and GENIE3 land close together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94913" y="1344168"/>
            <a:ext cx="7571692" cy="4764024"/>
          </a:xfrm>
          <a:prstGeom prst="roundRect">
            <a:avLst>
              <a:gd name="adj" fmla="val 3500"/>
            </a:avLst>
          </a:prstGeom>
          <a:solidFill>
            <a:srgbClr val="FAFAF9"/>
          </a:solidFill>
          <a:ln w="9525">
            <a:solidFill>
              <a:srgbClr val="DD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3_structure_directnet_restricted_f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9505" y="1508760"/>
            <a:ext cx="7242508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26364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6B6B68"/>
                </a:solidFill>
                <a:latin typeface="Calibri"/>
              </a:rPr>
              <a:t>On a small, curated 53-gene candidate network, CellOracle and GENIE3 recover the exact same edge set --</a:t>
            </a:r>
          </a:p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6B6B68"/>
                </a:solidFill>
                <a:latin typeface="Calibri"/>
              </a:rPr>
              <a:t>both independently zero out the same 13 self-loop candidates.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B6834"/>
                </a:solidFill>
                <a:latin typeface="Calibri"/>
              </a:rPr>
              <a:t>COMPARISON 3 -- PREDICTED VS. ACTUAL EXPRESSION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212121"/>
                </a:solidFill>
                <a:latin typeface="Cambria"/>
              </a:rPr>
              <a:t>GENIE3 wins on raw fit throughout -- flexibility, not correct structure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64240" cy="502920"/>
          </a:xfrm>
          <a:prstGeom prst="roundRect">
            <a:avLst>
              <a:gd name="adj" fmla="val 25000"/>
            </a:avLst>
          </a:prstGeom>
          <a:solidFill>
            <a:srgbClr val="FC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1150" i="1">
                <a:solidFill>
                  <a:srgbClr val="8A4A1E"/>
                </a:solidFill>
                <a:latin typeface="Calibri"/>
              </a:rPr>
              <a:t>Corrected this session: earlier numbers (0.832 vs. 0.780) had CellOracle's R2 computed on the wrong data representation -- corrected below.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14589" y="1984248"/>
            <a:ext cx="9532340" cy="4123944"/>
          </a:xfrm>
          <a:prstGeom prst="roundRect">
            <a:avLst>
              <a:gd name="adj" fmla="val 3500"/>
            </a:avLst>
          </a:prstGeom>
          <a:solidFill>
            <a:srgbClr val="FAFAF9"/>
          </a:solidFill>
          <a:ln w="9525">
            <a:solidFill>
              <a:srgbClr val="DD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4_predicted_vs_actual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9181" y="2148840"/>
            <a:ext cx="9203156" cy="3794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26364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6B6B68"/>
                </a:solidFill>
                <a:latin typeface="Calibri"/>
              </a:rPr>
              <a:t>boba-T and CellOracle are essentially tied on a shared 42-gene candidate set; CellOracle catches up once run genome-wide with real ATAC.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B6834"/>
                </a:solidFill>
                <a:latin typeface="Calibri"/>
              </a:rPr>
              <a:t>COMBINATORIAL LOGIC -- HSC GROUND TRUTH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212121"/>
                </a:solidFill>
                <a:latin typeface="Cambria"/>
              </a:rPr>
              <a:t>A genuine split, not a one-sided result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1064240" cy="502920"/>
          </a:xfrm>
          <a:prstGeom prst="roundRect">
            <a:avLst>
              <a:gd name="adj" fmla="val 25000"/>
            </a:avLst>
          </a:prstGeom>
          <a:solidFill>
            <a:srgbClr val="FCEE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/>
          <a:lstStyle/>
          <a:p>
            <a:pPr algn="ctr"/>
            <a:r>
              <a:rPr sz="1150" i="1">
                <a:solidFill>
                  <a:srgbClr val="8A4A1E"/>
                </a:solidFill>
                <a:latin typeface="Calibri"/>
              </a:rPr>
              <a:t>Corrected this session: earlier numbers (CellOracle R2 = -0.41 synthetic / 0.13 real) had a missing-intercept bug in the verification script -- corrected below.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585996" y="1984248"/>
            <a:ext cx="8989527" cy="4123944"/>
          </a:xfrm>
          <a:prstGeom prst="roundRect">
            <a:avLst>
              <a:gd name="adj" fmla="val 3500"/>
            </a:avLst>
          </a:prstGeom>
          <a:solidFill>
            <a:srgbClr val="FAFAF9"/>
          </a:solidFill>
          <a:ln w="9525">
            <a:solidFill>
              <a:srgbClr val="DD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fig5_hsc_track1_vs_track2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0588" y="2148840"/>
            <a:ext cx="8660343" cy="37947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" y="626364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6B6B68"/>
                </a:solidFill>
                <a:latin typeface="Calibri"/>
              </a:rPr>
              <a:t>CellOracle wins on synthetic data with the true network handed to it; boba-T wins on real data it had to discover a network for.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B6834"/>
                </a:solidFill>
                <a:latin typeface="Calibri"/>
              </a:rPr>
              <a:t>EDGE-WEIGHT SUMMARIZATION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212121"/>
                </a:solidFill>
                <a:latin typeface="Cambria"/>
              </a:rPr>
              <a:t>No summary method consistently wins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18500" y="1344168"/>
            <a:ext cx="9724519" cy="4764024"/>
          </a:xfrm>
          <a:prstGeom prst="roundRect">
            <a:avLst>
              <a:gd name="adj" fmla="val 3500"/>
            </a:avLst>
          </a:prstGeom>
          <a:solidFill>
            <a:srgbClr val="FAFAF9"/>
          </a:solidFill>
          <a:ln w="9525">
            <a:solidFill>
              <a:srgbClr val="DD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fig6_edge_weight_summa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092" y="1508760"/>
            <a:ext cx="9395335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26364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6B6B68"/>
                </a:solidFill>
                <a:latin typeface="Calibri"/>
              </a:rPr>
              <a:t>The "averaging hides context-dependent regulators" hypothesis is a null result (r = -0.02, n = 39) --</a:t>
            </a:r>
          </a:p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6B6B68"/>
                </a:solidFill>
                <a:latin typeface="Calibri"/>
              </a:rPr>
              <a:t>dataw_signed/dataw_abs adopted as boba-T's default anyway, for consistency.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2331720"/>
            <a:ext cx="822960" cy="82296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228600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Domain-Shift Diagnostics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3063240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ADCFC"/>
                </a:solidFill>
                <a:latin typeface="Calibri"/>
              </a:rPr>
              <a:t>Why external validation (organoid, metastasis, human tumor) scores lower than in-vivo GEMM data --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ADCFC"/>
                </a:solidFill>
                <a:latin typeface="Calibri"/>
              </a:rPr>
              <a:t>and which single measurement best predicts it.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B6834"/>
                </a:solidFill>
                <a:latin typeface="Calibri"/>
              </a:rPr>
              <a:t>VALIDATION ROBUSTNESS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12121"/>
                </a:solidFill>
                <a:latin typeface="Cambria"/>
              </a:rPr>
              <a:t>Real signal, not a metric artifact -- but self-loop genes inflate 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68168" y="1252728"/>
            <a:ext cx="6425184" cy="2157984"/>
          </a:xfrm>
          <a:prstGeom prst="roundRect">
            <a:avLst>
              <a:gd name="adj" fmla="val 3500"/>
            </a:avLst>
          </a:prstGeom>
          <a:solidFill>
            <a:srgbClr val="FAFAF9"/>
          </a:solidFill>
          <a:ln w="9525">
            <a:solidFill>
              <a:srgbClr val="DD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organoid_shgfp_by_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2760" y="1417320"/>
            <a:ext cx="6096000" cy="1828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3310128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1">
                <a:solidFill>
                  <a:srgbClr val="6B6B68"/>
                </a:solidFill>
                <a:latin typeface="Calibri"/>
              </a:rPr>
              <a:t>No single organoid_shGFP sequencing line drags down the pooled validation score.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46987" y="3584447"/>
            <a:ext cx="4443984" cy="2843784"/>
          </a:xfrm>
          <a:prstGeom prst="roundRect">
            <a:avLst>
              <a:gd name="adj" fmla="val 3500"/>
            </a:avLst>
          </a:prstGeom>
          <a:solidFill>
            <a:srgbClr val="FAFAF9"/>
          </a:solidFill>
          <a:ln w="9525">
            <a:solidFill>
              <a:srgbClr val="DD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ll_samples_r2_by_categ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579" y="3749039"/>
            <a:ext cx="4114800" cy="2514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6670548" y="3584447"/>
            <a:ext cx="4443984" cy="2843784"/>
          </a:xfrm>
          <a:prstGeom prst="roundRect">
            <a:avLst>
              <a:gd name="adj" fmla="val 3500"/>
            </a:avLst>
          </a:prstGeom>
          <a:solidFill>
            <a:srgbClr val="FAFAF9"/>
          </a:solidFill>
          <a:ln w="9525">
            <a:solidFill>
              <a:srgbClr val="DD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ll_samples_r2_by_category_excl_selfloop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5140" y="3749039"/>
            <a:ext cx="4114800" cy="2514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0080" y="6419088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6B6B68"/>
                </a:solidFill>
                <a:latin typeface="Calibri"/>
              </a:rPr>
              <a:t>Left: all 53 genes clear a scrambled-data null. Right: excluding the 11 self-loop genes, only allograft/TKO keep real signal.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B6834"/>
                </a:solidFill>
                <a:latin typeface="Calibri"/>
              </a:rPr>
              <a:t>DOMAIN-SHIFT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212121"/>
                </a:solidFill>
                <a:latin typeface="Cambria"/>
              </a:rPr>
              <a:t>Correlation-structure preservation predicts validation R2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274320"/>
            <a:ext cx="1920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 i="0">
                <a:solidFill>
                  <a:srgbClr val="EB6834"/>
                </a:solidFill>
                <a:latin typeface="Cambria"/>
              </a:rPr>
              <a:t>-0.72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21240" y="86868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8"/>
                </a:solidFill>
                <a:latin typeface="Calibri"/>
              </a:rPr>
              <a:t>correlation 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10487" y="1344168"/>
            <a:ext cx="6140545" cy="4764024"/>
          </a:xfrm>
          <a:prstGeom prst="roundRect">
            <a:avLst>
              <a:gd name="adj" fmla="val 3500"/>
            </a:avLst>
          </a:prstGeom>
          <a:solidFill>
            <a:srgbClr val="FAFAF9"/>
          </a:solidFill>
          <a:ln w="9525">
            <a:solidFill>
              <a:srgbClr val="DD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rr_structure_vs_r2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5079" y="1508760"/>
            <a:ext cx="5811361" cy="4434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26364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6B6B68"/>
                </a:solidFill>
                <a:latin typeface="Calibri"/>
              </a:rPr>
              <a:t>Not primarily a species/culture-status effect -- organoid and human-tumor samples span the same range as allografts.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B6834"/>
                </a:solidFill>
                <a:latin typeface="Calibri"/>
              </a:rPr>
              <a:t>THE STRONGEST PREDICTOR FOUND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212121"/>
                </a:solidFill>
                <a:latin typeface="Cambria"/>
              </a:rPr>
              <a:t>Per-gene x per-sample transferability predicts R2 almost exactly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274320"/>
            <a:ext cx="1920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 i="0">
                <a:solidFill>
                  <a:srgbClr val="EB6834"/>
                </a:solidFill>
                <a:latin typeface="Cambria"/>
              </a:rPr>
              <a:t>0.96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21240" y="86868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8"/>
                </a:solidFill>
                <a:latin typeface="Calibri"/>
              </a:rPr>
              <a:t>correlation 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475738" y="1298448"/>
            <a:ext cx="7210044" cy="4809744"/>
          </a:xfrm>
          <a:prstGeom prst="roundRect">
            <a:avLst>
              <a:gd name="adj" fmla="val 3500"/>
            </a:avLst>
          </a:prstGeom>
          <a:solidFill>
            <a:srgbClr val="FAFAF9"/>
          </a:solidFill>
          <a:ln w="9525">
            <a:solidFill>
              <a:srgbClr val="DD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eaf_conditional_transferabilit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330" y="1463040"/>
            <a:ext cx="6880860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26364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6B6B68"/>
                </a:solidFill>
                <a:latin typeface="Calibri"/>
              </a:rPr>
              <a:t>"Does the fitted rule actually hold in this sample" -- the most direct possible measurement, with the</a:t>
            </a:r>
          </a:p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6B6B68"/>
                </a:solidFill>
                <a:latin typeface="Calibri"/>
              </a:rPr>
              <a:t>population-composition confound removed by construction.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B6834"/>
                </a:solidFill>
                <a:latin typeface="Calibri"/>
              </a:rPr>
              <a:t>DOES SUBTYPE IDENTITY EXPLAIN DOMAIN SHIFT?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212121"/>
                </a:solidFill>
                <a:latin typeface="Cambria"/>
              </a:rPr>
              <a:t>SCLC-A tumors validate significantly better than non-A tumors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274320"/>
            <a:ext cx="1920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3000" b="1" i="0">
                <a:solidFill>
                  <a:srgbClr val="EB6834"/>
                </a:solidFill>
                <a:latin typeface="Cambria"/>
              </a:rPr>
              <a:t>p&lt;0.05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21240" y="86868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6B6B68"/>
                </a:solidFill>
                <a:latin typeface="Calibri"/>
              </a:rPr>
              <a:t>both R2 and AUC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89829" y="1344168"/>
            <a:ext cx="7981861" cy="4764024"/>
          </a:xfrm>
          <a:prstGeom prst="roundRect">
            <a:avLst>
              <a:gd name="adj" fmla="val 3500"/>
            </a:avLst>
          </a:prstGeom>
          <a:solidFill>
            <a:srgbClr val="FAFAF9"/>
          </a:solidFill>
          <a:ln w="9525">
            <a:solidFill>
              <a:srgbClr val="DD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human_tumor_subtype_group_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4421" y="1508760"/>
            <a:ext cx="7652677" cy="443484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26364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6B6B68"/>
                </a:solidFill>
                <a:latin typeface="Calibri"/>
              </a:rPr>
              <a:t>Real, published subtype labels (Chan et al. 2021 Fig. S2A) for all 16 human-tumor samples, not a proxy -- the</a:t>
            </a:r>
          </a:p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6B6B68"/>
                </a:solidFill>
                <a:latin typeface="Calibri"/>
              </a:rPr>
              <a:t>network was fit on ASCL1-driven mouse tumors, and it validates measurably better on ASCL1-subtype human tumors too.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" y="2331720"/>
            <a:ext cx="822960" cy="822960"/>
          </a:xfrm>
          <a:prstGeom prst="ellipse">
            <a:avLst/>
          </a:prstGeom>
          <a:solidFill>
            <a:srgbClr val="EB68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965960" y="2286000"/>
            <a:ext cx="9144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RORB Knockdown &amp; RadViz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65960" y="3063240"/>
            <a:ext cx="86868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ADCFC"/>
                </a:solidFill>
                <a:latin typeface="Calibri"/>
              </a:rPr>
              <a:t>Does the fitted network's perturbation-response logic transfer to real organoid data, at the</a:t>
            </a:r>
          </a:p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CADCFC"/>
                </a:solidFill>
                <a:latin typeface="Calibri"/>
              </a:rPr>
              <a:t>archetype level -- and does a visual projection confirm it?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B6834"/>
                </a:solidFill>
                <a:latin typeface="Calibri"/>
              </a:rPr>
              <a:t>DEFINING THE AXIS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212121"/>
                </a:solidFill>
                <a:latin typeface="Cambria"/>
              </a:rPr>
              <a:t>RORB knockdown pushes cells along a single NE &lt;-&gt; nonNE axis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306772" y="1344168"/>
            <a:ext cx="7547975" cy="4764024"/>
          </a:xfrm>
          <a:prstGeom prst="roundRect">
            <a:avLst>
              <a:gd name="adj" fmla="val 3500"/>
            </a:avLst>
          </a:prstGeom>
          <a:solidFill>
            <a:srgbClr val="FAFAF9"/>
          </a:solidFill>
          <a:ln w="9525">
            <a:solidFill>
              <a:srgbClr val="DD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alk_axis_position_Neuroendocrin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364" y="1508760"/>
            <a:ext cx="7218791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26364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6B6B68"/>
                </a:solidFill>
                <a:latin typeface="Calibri"/>
              </a:rPr>
              <a:t>All 8 GEMM archetypes fall on one ordered spectrum (46 genes where Generalist_NE and Generalist_nonNE differ) --</a:t>
            </a:r>
          </a:p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6B6B68"/>
                </a:solidFill>
                <a:latin typeface="Calibri"/>
              </a:rPr>
              <a:t>knockdown moves organoid-seeded walks significantly further toward the nonNE end than the unperturbed control</a:t>
            </a:r>
          </a:p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6B6B68"/>
                </a:solidFill>
                <a:latin typeface="Calibri"/>
              </a:rPr>
              <a:t>(mean position 56.7 vs. 71.8, p = 2.7e-13).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B6834"/>
                </a:solidFill>
                <a:latin typeface="Calibri"/>
              </a:rPr>
              <a:t>DEFINING THE AXIS -- WITH THE ASCL1 POSITIVE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212121"/>
                </a:solidFill>
                <a:latin typeface="Cambria"/>
              </a:rPr>
              <a:t>ASCL1 knockout lands at nearly the same position as RORB knockdown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47137" y="1344168"/>
            <a:ext cx="7267244" cy="4764024"/>
          </a:xfrm>
          <a:prstGeom prst="roundRect">
            <a:avLst>
              <a:gd name="adj" fmla="val 3500"/>
            </a:avLst>
          </a:prstGeom>
          <a:solidFill>
            <a:srgbClr val="FAFAF9"/>
          </a:solidFill>
          <a:ln w="9525">
            <a:solidFill>
              <a:srgbClr val="DD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alk_axis_position_Neuroendocrine1_with_ASC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729" y="1508760"/>
            <a:ext cx="6938060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26364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6B6B68"/>
                </a:solidFill>
                <a:latin typeface="Calibri"/>
              </a:rPr>
              <a:t>Both perturbations move organoid-seeded walks to a similar final position on the axis (ASCL1: 47.2, RORB: 43.7,</a:t>
            </a:r>
          </a:p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6B6B68"/>
                </a:solidFill>
                <a:latin typeface="Calibri"/>
              </a:rPr>
              <a:t>vs. 62.1 unperturbed) -- on this collapsed summary, the two effects are comparable in size, not one dwarfing the other.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B6834"/>
                </a:solidFill>
                <a:latin typeface="Calibri"/>
              </a:rPr>
              <a:t>TEMPORAL ORDERING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212121"/>
                </a:solidFill>
                <a:latin typeface="Cambria"/>
              </a:rPr>
              <a:t>Walks pass through Intermediate before reaching nonNE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50067" y="1344168"/>
            <a:ext cx="6861384" cy="4764024"/>
          </a:xfrm>
          <a:prstGeom prst="roundRect">
            <a:avLst>
              <a:gd name="adj" fmla="val 3500"/>
            </a:avLst>
          </a:prstGeom>
          <a:solidFill>
            <a:srgbClr val="FAFAF9"/>
          </a:solidFill>
          <a:ln w="9525">
            <a:solidFill>
              <a:srgbClr val="DD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alk_temporal_distance_Neuroendocrine1_combin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4659" y="1508760"/>
            <a:ext cx="6532200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26364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6B6B68"/>
                </a:solidFill>
                <a:latin typeface="Calibri"/>
              </a:rPr>
              <a:t>89% of 100 simulated walks reach the Intermediate archetype before the nonNE cluster under RORB knockdown</a:t>
            </a:r>
          </a:p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6B6B68"/>
                </a:solidFill>
                <a:latin typeface="Calibri"/>
              </a:rPr>
              <a:t>(mean step 876 vs. 2734, p = 2e-14).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B6834"/>
                </a:solidFill>
                <a:latin typeface="Calibri"/>
              </a:rPr>
              <a:t>TEMPORAL ORDERING -- WITH THE ASCL1 POSITIVE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212121"/>
                </a:solidFill>
                <a:latin typeface="Cambria"/>
              </a:rPr>
              <a:t>ASCL1 knockout shows the same passage, at a similar pace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64973" y="1344168"/>
            <a:ext cx="6631573" cy="4764024"/>
          </a:xfrm>
          <a:prstGeom prst="roundRect">
            <a:avLst>
              <a:gd name="adj" fmla="val 3500"/>
            </a:avLst>
          </a:prstGeom>
          <a:solidFill>
            <a:srgbClr val="FAFAF9"/>
          </a:solidFill>
          <a:ln w="9525">
            <a:solidFill>
              <a:srgbClr val="DD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walk_temporal_distance_Neuroendocrine1_combined_with_ASC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9565" y="1508760"/>
            <a:ext cx="6302389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26364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6B6B68"/>
                </a:solidFill>
                <a:latin typeface="Calibri"/>
              </a:rPr>
              <a:t>85% of ASCL1-knockout walks also reach Intermediate before nonNE (mean step 1005 vs. 2522, p = 1.4e-11) --</a:t>
            </a:r>
          </a:p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6B6B68"/>
                </a:solidFill>
                <a:latin typeface="Calibri"/>
              </a:rPr>
              <a:t>close to RORB's own timing (876 vs. 2734), not a markedly faster or slower transit.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B6834"/>
                </a:solidFill>
                <a:latin typeface="Calibri"/>
              </a:rPr>
              <a:t>RADVIZ PROJECTION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i="0">
                <a:solidFill>
                  <a:srgbClr val="212121"/>
                </a:solidFill>
                <a:latin typeface="Cambria"/>
              </a:rPr>
              <a:t>Simulated trajectories vs. real single-cell data, same fixed anchors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" y="1707478"/>
            <a:ext cx="5861304" cy="4083122"/>
          </a:xfrm>
          <a:prstGeom prst="roundRect">
            <a:avLst>
              <a:gd name="adj" fmla="val 3500"/>
            </a:avLst>
          </a:prstGeom>
          <a:solidFill>
            <a:srgbClr val="FAFAF9"/>
          </a:solidFill>
          <a:ln w="9525">
            <a:solidFill>
              <a:srgbClr val="DD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adviz_archetype_projection_Neuroendocrin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872070"/>
            <a:ext cx="5532120" cy="375393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6007608" y="1509903"/>
            <a:ext cx="5861304" cy="4478274"/>
          </a:xfrm>
          <a:prstGeom prst="roundRect">
            <a:avLst>
              <a:gd name="adj" fmla="val 3500"/>
            </a:avLst>
          </a:prstGeom>
          <a:solidFill>
            <a:srgbClr val="FAFAF9"/>
          </a:solidFill>
          <a:ln w="9525">
            <a:solidFill>
              <a:srgbClr val="DD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radviz_archetype_kde_refere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74495"/>
            <a:ext cx="5532120" cy="414909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48640" y="6172200"/>
            <a:ext cx="5532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6B6B68"/>
                </a:solidFill>
                <a:latin typeface="Calibri"/>
              </a:rPr>
              <a:t>Simulation: 100 walks, knockdown vs. unperturbed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6172200"/>
            <a:ext cx="55321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1">
                <a:solidFill>
                  <a:srgbClr val="6B6B68"/>
                </a:solidFill>
                <a:latin typeface="Calibri"/>
              </a:rPr>
              <a:t>Real cells: 50% density contours by predicted identity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B6834"/>
                </a:solidFill>
                <a:latin typeface="Calibri"/>
              </a:rPr>
              <a:t>RADVIZ PROJECTION -- SHARPENED (T=3)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212121"/>
                </a:solidFill>
                <a:latin typeface="Cambria"/>
              </a:rPr>
              <a:t>Same trajectories, lower softmax temperature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648391" y="1344168"/>
            <a:ext cx="6864737" cy="4764024"/>
          </a:xfrm>
          <a:prstGeom prst="roundRect">
            <a:avLst>
              <a:gd name="adj" fmla="val 3500"/>
            </a:avLst>
          </a:prstGeom>
          <a:solidFill>
            <a:srgbClr val="FAFAF9"/>
          </a:solidFill>
          <a:ln w="9525">
            <a:solidFill>
              <a:srgbClr val="DD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adviz_archetype_projection_Neuroendocrine1_T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2983" y="1508760"/>
            <a:ext cx="6535553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26364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6B6B68"/>
                </a:solidFill>
                <a:latin typeface="Calibri"/>
              </a:rPr>
              <a:t>Lower T sharpens weighting toward the nearest anchor (less blending between similar archetypes, e.g. NE1/NE2 differ</a:t>
            </a:r>
          </a:p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6B6B68"/>
                </a:solidFill>
                <a:latin typeface="Calibri"/>
              </a:rPr>
              <a:t>by only 9/53 genes) at the cost of exaggerating apparent separation relative to true Hamming distance.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B6834"/>
                </a:solidFill>
                <a:latin typeface="Calibri"/>
              </a:rPr>
              <a:t>POSITIVE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212121"/>
                </a:solidFill>
                <a:latin typeface="Cambria"/>
              </a:rPr>
              <a:t>ASCL1 knockout: a similarly-sized shift, not a bigger 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59608" y="1344168"/>
            <a:ext cx="6242304" cy="4764024"/>
          </a:xfrm>
          <a:prstGeom prst="roundRect">
            <a:avLst>
              <a:gd name="adj" fmla="val 3500"/>
            </a:avLst>
          </a:prstGeom>
          <a:solidFill>
            <a:srgbClr val="FAFAF9"/>
          </a:solidFill>
          <a:ln w="9525">
            <a:solidFill>
              <a:srgbClr val="DD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adviz_archetype_projection_Neuroendocrine1_with_ASC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1508760"/>
            <a:ext cx="5913120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26364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6B6B68"/>
                </a:solidFill>
                <a:latin typeface="Calibri"/>
              </a:rPr>
              <a:t>ASCL1 is a canonical NE master regulator, so a much larger effect than RORB's was the expectation going in --</a:t>
            </a:r>
          </a:p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6B6B68"/>
                </a:solidFill>
                <a:latin typeface="Calibri"/>
              </a:rPr>
              <a:t>instead its knockout trajectory tracks closely alongside RORB's, ending at a comparable position, not clearly beyond it.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B6834"/>
                </a:solidFill>
                <a:latin typeface="Calibri"/>
              </a:rPr>
              <a:t>POSITIVE CONTROL -- SHARPENED (T=3)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212121"/>
                </a:solidFill>
                <a:latin typeface="Cambria"/>
              </a:rPr>
              <a:t>Same result holds at the sharpened projection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59608" y="1344168"/>
            <a:ext cx="6242304" cy="4764024"/>
          </a:xfrm>
          <a:prstGeom prst="roundRect">
            <a:avLst>
              <a:gd name="adj" fmla="val 3500"/>
            </a:avLst>
          </a:prstGeom>
          <a:solidFill>
            <a:srgbClr val="FAFAF9"/>
          </a:solidFill>
          <a:ln w="9525">
            <a:solidFill>
              <a:srgbClr val="DD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radviz_archetype_projection_Neuroendocrine1_T3_with_ASCL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200" y="1508760"/>
            <a:ext cx="5913120" cy="4434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26364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6B6B68"/>
                </a:solidFill>
                <a:latin typeface="Calibri"/>
              </a:rPr>
              <a:t>Even with less blending between nearby archetypes, ASCL1's and RORB's end points and paths remain close together --</a:t>
            </a:r>
          </a:p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6B6B68"/>
                </a:solidFill>
                <a:latin typeface="Calibri"/>
              </a:rPr>
              <a:t>the similar magnitude isn't an artifact of the softer T=10 projection.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6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FFFFFF"/>
                </a:solidFill>
                <a:latin typeface="Cambria"/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156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800"/>
              </a:spcAft>
            </a:pPr>
            <a:r>
              <a:rPr sz="1650" b="1">
                <a:solidFill>
                  <a:srgbClr val="EB6834"/>
                </a:solidFill>
                <a:latin typeface="Calibri"/>
              </a:rPr>
              <a:t>•  </a:t>
            </a:r>
            <a:r>
              <a:rPr sz="1650">
                <a:solidFill>
                  <a:srgbClr val="F2F2F2"/>
                </a:solidFill>
                <a:latin typeface="Calibri"/>
              </a:rPr>
              <a:t>boba-T and CellOracle trade off, not one strictly beating the other: boba-T wins on real data it had to discover a network for; CellOracle/GENIE3 win on synthetic data or genome-wide scale.</a:t>
            </a:r>
          </a:p>
          <a:p>
            <a:pPr algn="l">
              <a:spcAft>
                <a:spcPts val="1800"/>
              </a:spcAft>
            </a:pPr>
            <a:r>
              <a:rPr sz="1650" b="1">
                <a:solidFill>
                  <a:srgbClr val="EB6834"/>
                </a:solidFill>
                <a:latin typeface="Calibri"/>
              </a:rPr>
              <a:t>•  </a:t>
            </a:r>
            <a:r>
              <a:rPr sz="1650">
                <a:solidFill>
                  <a:srgbClr val="F2F2F2"/>
                </a:solidFill>
                <a:latin typeface="Calibri"/>
              </a:rPr>
              <a:t>Correlation-structure preservation, and especially per-gene leaf-conditional transferability (r = 0.96), predict external validation quality far better than any distance-from-training-data metric.</a:t>
            </a:r>
          </a:p>
          <a:p>
            <a:pPr algn="l">
              <a:spcAft>
                <a:spcPts val="1800"/>
              </a:spcAft>
            </a:pPr>
            <a:r>
              <a:rPr sz="1650" b="1">
                <a:solidFill>
                  <a:srgbClr val="EB6834"/>
                </a:solidFill>
                <a:latin typeface="Calibri"/>
              </a:rPr>
              <a:t>•  </a:t>
            </a:r>
            <a:r>
              <a:rPr sz="1650">
                <a:solidFill>
                  <a:srgbClr val="F2F2F2"/>
                </a:solidFill>
                <a:latin typeface="Calibri"/>
              </a:rPr>
              <a:t>Self-loop genes inflate validation scores across the board -- excluding them, only allograft and TKO-derived samples retain a clearly real cross-gene signal.</a:t>
            </a:r>
          </a:p>
          <a:p>
            <a:pPr algn="l">
              <a:spcAft>
                <a:spcPts val="1800"/>
              </a:spcAft>
            </a:pPr>
            <a:r>
              <a:rPr sz="1650" b="1">
                <a:solidFill>
                  <a:srgbClr val="EB6834"/>
                </a:solidFill>
                <a:latin typeface="Calibri"/>
              </a:rPr>
              <a:t>•  </a:t>
            </a:r>
            <a:r>
              <a:rPr sz="1650">
                <a:solidFill>
                  <a:srgbClr val="F2F2F2"/>
                </a:solidFill>
                <a:latin typeface="Calibri"/>
              </a:rPr>
              <a:t>RORB knockdown's predicted archetype-level shift (NE -&gt; Intermediate -&gt; nonNE) is confirmed both in simulation and in real organoid shRNA data, with the correct temporal ordering.</a:t>
            </a:r>
          </a:p>
          <a:p>
            <a:pPr algn="l">
              <a:spcAft>
                <a:spcPts val="1800"/>
              </a:spcAft>
            </a:pPr>
            <a:r>
              <a:rPr sz="1650" b="1">
                <a:solidFill>
                  <a:srgbClr val="EB6834"/>
                </a:solidFill>
                <a:latin typeface="Calibri"/>
              </a:rPr>
              <a:t>•  </a:t>
            </a:r>
            <a:r>
              <a:rPr sz="1650">
                <a:solidFill>
                  <a:srgbClr val="F2F2F2"/>
                </a:solidFill>
                <a:latin typeface="Calibri"/>
              </a:rPr>
              <a:t>Human tumors that are themselves ASCL1-subtype (Chan et al. 2021 labels) validate significantly better than non-A tumors (R2 p=0.042, AUC p=0.027) -- direct confirmation that the network's training bias toward ASCL1-driven mouse tumors carries over to which real patients it fits best.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B6834"/>
                </a:solidFill>
                <a:latin typeface="Calibri"/>
              </a:rPr>
              <a:t>ATTRACTOR STABILITY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212121"/>
                </a:solidFill>
                <a:latin typeface="Cambria"/>
              </a:rPr>
              <a:t>Real cells vary widely in rule-consistency by archetype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9712" y="1344168"/>
            <a:ext cx="8152272" cy="5020424"/>
          </a:xfrm>
          <a:prstGeom prst="roundRect">
            <a:avLst>
              <a:gd name="adj" fmla="val 3500"/>
            </a:avLst>
          </a:prstGeom>
          <a:solidFill>
            <a:srgbClr val="FAFAF9"/>
          </a:solidFill>
          <a:ln w="9525">
            <a:solidFill>
              <a:srgbClr val="DD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304" y="1508760"/>
            <a:ext cx="7823088" cy="4691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26364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6B6B68"/>
                </a:solidFill>
                <a:latin typeface="Calibri"/>
              </a:rPr>
              <a:t>Secretory is the most consistently unstable population; Intermediate has high variance, with its own</a:t>
            </a:r>
          </a:p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6B6B68"/>
                </a:solidFill>
                <a:latin typeface="Calibri"/>
              </a:rPr>
              <a:t>archetype-average state an outlier even relative to its own real cells. The nonNE side is the most stable overall.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B6834"/>
                </a:solidFill>
                <a:latin typeface="Calibri"/>
              </a:rPr>
              <a:t>ATTRACTOR STABILITY DIAGNOSTIC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212121"/>
                </a:solidFill>
                <a:latin typeface="Cambria"/>
              </a:rPr>
              <a:t>Only 0.3% of real cells are genuine fixed points of the fitted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19712" y="1344168"/>
            <a:ext cx="8152272" cy="5020424"/>
          </a:xfrm>
          <a:prstGeom prst="roundRect">
            <a:avLst>
              <a:gd name="adj" fmla="val 3500"/>
            </a:avLst>
          </a:prstGeom>
          <a:solidFill>
            <a:srgbClr val="FAFAF9"/>
          </a:solidFill>
          <a:ln w="9525">
            <a:solidFill>
              <a:srgbClr val="DD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4304" y="1508760"/>
            <a:ext cx="7823088" cy="4691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26364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6B6B68"/>
                </a:solidFill>
                <a:latin typeface="Calibri"/>
              </a:rPr>
              <a:t>By the strict criterion (0 of 53 genes preferring to flip), Intermediate is significantly less stable than</a:t>
            </a:r>
          </a:p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6B6B68"/>
                </a:solidFill>
                <a:latin typeface="Calibri"/>
              </a:rPr>
              <a:t>every other archetype (p &lt; 0.02 vs. all) -- confirmed at the population level, not just at its own average state.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B6834"/>
                </a:solidFill>
                <a:latin typeface="Calibri"/>
              </a:rPr>
              <a:t>TRUE ATTRACTOR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212121"/>
                </a:solidFill>
                <a:latin typeface="Cambria"/>
              </a:rPr>
              <a:t>Starting from a genuine fixed point reproduces the same result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2268" y="1344168"/>
            <a:ext cx="6707160" cy="5020424"/>
          </a:xfrm>
          <a:prstGeom prst="roundRect">
            <a:avLst>
              <a:gd name="adj" fmla="val 3500"/>
            </a:avLst>
          </a:prstGeom>
          <a:solidFill>
            <a:srgbClr val="FAFAF9"/>
          </a:solidFill>
          <a:ln w="9525">
            <a:solidFill>
              <a:srgbClr val="DD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6860" y="1508760"/>
            <a:ext cx="6377976" cy="4691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26364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6B6B68"/>
                </a:solidFill>
                <a:latin typeface="Calibri"/>
              </a:rPr>
              <a:t>RORB knockdown from NE1's own true discovered attractor state (not the archetype average) still drives</a:t>
            </a:r>
          </a:p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6B6B68"/>
                </a:solidFill>
                <a:latin typeface="Calibri"/>
              </a:rPr>
              <a:t>a clear, significant shift toward nonNE -- the earlier result wasn't an artifact of an unstable starting point.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EB6834"/>
                </a:solidFill>
                <a:latin typeface="Calibri"/>
              </a:rPr>
              <a:t>TRUE ATTRACTOR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212121"/>
                </a:solidFill>
                <a:latin typeface="Cambria"/>
              </a:rPr>
              <a:t>RORB overexpression still rescues cells from a true nonNE attractor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2268" y="1344168"/>
            <a:ext cx="6707160" cy="5020424"/>
          </a:xfrm>
          <a:prstGeom prst="roundRect">
            <a:avLst>
              <a:gd name="adj" fmla="val 3500"/>
            </a:avLst>
          </a:prstGeom>
          <a:solidFill>
            <a:srgbClr val="FAFAF9"/>
          </a:solidFill>
          <a:ln w="9525">
            <a:solidFill>
              <a:srgbClr val="DDDDD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6860" y="1508760"/>
            <a:ext cx="6377976" cy="4691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263640"/>
            <a:ext cx="1088136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6B6B68"/>
                </a:solidFill>
                <a:latin typeface="Calibri"/>
              </a:rPr>
              <a:t>This state is a confirmed attractor shared by Generalist_nonNE and nonNE1/Arc_4 -- overexpression</a:t>
            </a:r>
          </a:p>
          <a:p>
            <a:pPr algn="ctr">
              <a:lnSpc>
                <a:spcPct val="100000"/>
              </a:lnSpc>
            </a:pPr>
            <a:r>
              <a:rPr sz="1250" b="0" i="1">
                <a:solidFill>
                  <a:srgbClr val="6B6B68"/>
                </a:solidFill>
                <a:latin typeface="Calibri"/>
              </a:rPr>
              <a:t>still reverses the drift back toward NE, from a genuine fixed point rather than the archetype average.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